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51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0F3A5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182880"/>
            <a:ext cx="3108960" cy="3108960"/>
          </a:xfrm>
          <a:prstGeom prst="ellipse">
            <a:avLst/>
          </a:prstGeom>
          <a:solidFill>
            <a:srgbClr val="E3963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  ·   MONSOON AGRICULTURE   ·   SYLHET, BANGLADESH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 of Optical Crop Monitoring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Monsoon Observation Gaps in Sylhet Rice Systems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2011680" cy="0"/>
          </a:xfrm>
          <a:prstGeom prst="line">
            <a:avLst/>
          </a:prstGeom>
          <a:noFill/>
          <a:ln w="31750">
            <a:solidFill>
              <a:srgbClr val="E3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Sentinel-2 / Google Earth Engine analysis of Transplanted Aman (T. Aman) rice monitoring, 2022–2024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86200" y="5897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observation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55–90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132320" y="5897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maximum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gaps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5349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Area:</a:t>
            </a:r>
            <a:endParaRPr lang="en-US" sz="1100" dirty="0"/>
          </a:p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Dakshin Surma, Sylhet Sadar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contamination sharply limits usable optical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consecutive Aman cycles (2022–2024), a Google Earth Engine pipeline combining s2cloudless and cloud-shadow detection evaluated 126 Sentinel-2 acquisition opportunities over a 15.10 km² non-haor T. Aman rice plain. At the primary 50% clear-cropland validity threshold, only 37.30% of acquisitions qualified as valid observations — leaving gaps of up to 55–90 days within a single growing season.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  <a:effectLst>
            <a:outerShdw blurRad="76200" dist="25400" dir="5400000" algn="bl" rotWithShape="0">
              <a:srgbClr val="9AAAB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51760"/>
            <a:ext cx="2679192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88036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21792" y="356616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opportunities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(2022–24)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265176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  <a:effectLst>
            <a:outerShdw blurRad="76200" dist="25400" dir="5400000" algn="bl" rotWithShape="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2651760"/>
            <a:ext cx="2679192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88036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37.30%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20440" y="356616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observation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at 50% threshold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265176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  <a:effectLst>
            <a:outerShdw blurRad="76200" dist="25400" dir="5400000" algn="bl" rotWithShape="0">
              <a:srgbClr val="9AAAB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2651760"/>
            <a:ext cx="2679192" cy="82296"/>
          </a:xfrm>
          <a:prstGeom prst="rect">
            <a:avLst/>
          </a:prstGeom>
          <a:solidFill>
            <a:srgbClr val="E396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288036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days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19088" y="356616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within-season gap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5 – Jul 30, 2023)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53144" y="265176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  <a:effectLst>
            <a:outerShdw blurRad="76200" dist="25400" dir="5400000" algn="bl" rotWithShape="0">
              <a:srgbClr val="9AAAB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53144" y="2651760"/>
            <a:ext cx="2679192" cy="82296"/>
          </a:xfrm>
          <a:prstGeom prst="rect">
            <a:avLst/>
          </a:prstGeom>
          <a:solidFill>
            <a:srgbClr val="B33D26"/>
          </a:solidFill>
          <a:ln/>
        </p:spPr>
      </p:sp>
      <p:sp>
        <p:nvSpPr>
          <p:cNvPr id="19" name="Text 17"/>
          <p:cNvSpPr/>
          <p:nvPr/>
        </p:nvSpPr>
        <p:spPr>
          <a:xfrm>
            <a:off x="9317736" y="288036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33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317736" y="356616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gap at the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90% threshold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0B2F4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availability does not manifest as uniform thinning of the record — it clusters into a small number of severe gaps. This distinction matters more than the headline percentage for any downstream interpolation or fusion strategy.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frequency is not the same as usable observation frequency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492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 and NDVI are foundational tools for agricultural monitoring, but their efficacy is constrained by atmospheric conditions. In Bangladesh, persistent monsoon cloud cover necessitates rigorous cloud masking — which removes contaminated pixels but creates temporal “data voids” that are frequently filled by interpolation or smoothing.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6492240" cy="2057400"/>
          </a:xfrm>
          <a:prstGeom prst="roundRect">
            <a:avLst>
              <a:gd name="adj" fmla="val 3556"/>
            </a:avLst>
          </a:prstGeom>
          <a:solidFill>
            <a:srgbClr val="EFF4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4015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730752"/>
            <a:ext cx="5852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monsoon-period cloud and shadow contamination affect the temporal availability and reliability of Sentinel-2 observations for NDVI-based rice monitoring in Sylhet?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462272" cy="3657600"/>
          </a:xfrm>
          <a:prstGeom prst="roundRect">
            <a:avLst>
              <a:gd name="adj" fmla="val 2000"/>
            </a:avLst>
          </a:prstGeom>
          <a:solidFill>
            <a:srgbClr val="0B2F44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0" y="224028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Cloud-prone South Asian rice landscapes have historically pushed operational mapping toward radar (SAR) alternatives.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evaluates availability using a cropland-aware clear-surface criterion — not just scene-level cloud metadata.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between acquisition and spatially sufficient clear observation is central to interpreting any optical NDVI time series.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STUDY 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15.10 km² non-haor T. Aman plain in Dakshin Surma, Sylhet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28232" y="1490472"/>
            <a:ext cx="530352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pic>
        <p:nvPicPr>
          <p:cNvPr id="5" name="Image 0" descr="images/study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627632"/>
            <a:ext cx="502920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55064"/>
            <a:ext cx="109728" cy="109728"/>
          </a:xfrm>
          <a:prstGeom prst="ellipse">
            <a:avLst/>
          </a:prstGeom>
          <a:solidFill>
            <a:srgbClr val="E3963E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545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819656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Dakshin Surma / Sylhet Sadar, Sylhet, Bangladesh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551176"/>
            <a:ext cx="109728" cy="109728"/>
          </a:xfrm>
          <a:prstGeom prst="ellipse">
            <a:avLst/>
          </a:prstGeom>
          <a:solidFill>
            <a:srgbClr val="E3963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441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2715768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15.10 km² cropland-masked ROI (ESA WorldCover class 40)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447288"/>
            <a:ext cx="109728" cy="109728"/>
          </a:xfrm>
          <a:prstGeom prst="ellipse">
            <a:avLst/>
          </a:prstGeom>
          <a:solidFill>
            <a:srgbClr val="E3963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3611880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Haor regions excluded — avoids confounding cloud gaps with seasonal submergence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109728" cy="109728"/>
          </a:xfrm>
          <a:prstGeom prst="ellipse">
            <a:avLst/>
          </a:prstGeom>
          <a:solidFill>
            <a:srgbClr val="E3963E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4233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WINDOW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507992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 – December 31, spanning three Aman seasons: 2022, 2023, 2024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5239512"/>
            <a:ext cx="109728" cy="109728"/>
          </a:xfrm>
          <a:prstGeom prst="ellipse">
            <a:avLst/>
          </a:prstGeom>
          <a:solidFill>
            <a:srgbClr val="E3963E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5129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3232" y="5404104"/>
            <a:ext cx="5532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does not independently verify field-level phenological stages within the ROI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DATA &amp;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8-stage GEE-to-Python pipeline: acquisition to gap detection</a:t>
            </a:r>
            <a:endParaRPr lang="en-US" sz="2600" dirty="0"/>
          </a:p>
        </p:txBody>
      </p:sp>
      <p:pic>
        <p:nvPicPr>
          <p:cNvPr id="4" name="Image 0" descr="images/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819" y="1463040"/>
            <a:ext cx="3156061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36192"/>
            <a:ext cx="76338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63385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Level-2A Surface Reflectance (Harmonized), 2022–2024, ensuring consistent dual-satellite coverage from Sentinel-2A and 2B/2C — a nominal 5-day revisit at the equator, better at Sylhet’s mid-latitude.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76338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PROCESSING PARAMETERS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6262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probability threshold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19459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538728"/>
            <a:ext cx="7633859" cy="0"/>
          </a:xfrm>
          <a:prstGeom prst="line">
            <a:avLst/>
          </a:prstGeom>
          <a:noFill/>
          <a:ln w="9525">
            <a:solidFill>
              <a:srgbClr val="E3E9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666744"/>
            <a:ext cx="6262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dark-pixel threshold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19459" y="36667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050792"/>
            <a:ext cx="7633859" cy="0"/>
          </a:xfrm>
          <a:prstGeom prst="line">
            <a:avLst/>
          </a:prstGeom>
          <a:noFill/>
          <a:ln w="9525">
            <a:solidFill>
              <a:srgbClr val="E3E9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78808"/>
            <a:ext cx="6262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Cropland definition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19459" y="41788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class 40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562856"/>
            <a:ext cx="7633859" cy="0"/>
          </a:xfrm>
          <a:prstGeom prst="line">
            <a:avLst/>
          </a:prstGeom>
          <a:noFill/>
          <a:ln w="9525">
            <a:solidFill>
              <a:srgbClr val="E3E9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690872"/>
            <a:ext cx="6262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/ alignment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19459" y="4690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m, aligned to Sentinel-2 B4 (Red)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074920"/>
            <a:ext cx="7633859" cy="0"/>
          </a:xfrm>
          <a:prstGeom prst="line">
            <a:avLst/>
          </a:prstGeom>
          <a:noFill/>
          <a:ln w="9525">
            <a:solidFill>
              <a:srgbClr val="E3E9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5340096"/>
            <a:ext cx="763385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revisit describes acquisition frequency, not usable-observation frequency: cloudiness is spatially and seasonally structured, not randomly distributed.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DEFINITIONS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terms that structure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373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007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opportunity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Sentinel-2 image available for the ROI.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373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85432" y="17007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observation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7627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acquisition where clear-cropland % ≥ the selected threshold.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3832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34670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acquisition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acquisition where clear-cropland % &lt; the selected threshold.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320040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3832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5432" y="334670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observation gap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82219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between two consecutive valid observation dates within the same Aman season.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029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99262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NDVI availability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median is null when clear-cropland % = 0% — no usable pixels existed for that acquisition.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5352" y="484632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5029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5432" y="499262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invalidity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5468112"/>
            <a:ext cx="5065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has an NDVI estimate but fails the selected clear-cropland validity criterion.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GENERAL AVAILABILITY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37.30% of acquisitions cleared the primary validity threshold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126 total acquisition opportunities identified across the three-year study period, just 47 were classified as valid observations at the primary 50% clear-cropland threshold — and availability was far from evenly spread across the season.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7452360" cy="4160520"/>
          </a:xfrm>
          <a:prstGeom prst="roundRect">
            <a:avLst>
              <a:gd name="adj" fmla="val 1099"/>
            </a:avLst>
          </a:prstGeom>
          <a:solidFill>
            <a:srgbClr val="EFF4F5"/>
          </a:solidFill>
          <a:ln/>
        </p:spPr>
      </p:sp>
      <p:pic>
        <p:nvPicPr>
          <p:cNvPr id="6" name="Image 0" descr="images/fig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7178040" cy="3904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214884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2585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36676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acquisition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56616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367588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36676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observations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 50% threshold)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498348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50932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366760" y="5760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TEMPORAL GAP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55-day blackout struck at the start of the 2023 monsoon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temporal gap identified — 55 days, between June 5 and July 30, 2023 — falls during the early Aman window, when fine-scale temporal interpretation is hardest without direct optical evidence. This is a pooled maximum across all three seasons (see Limitations).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776040"/>
            <a:ext cx="11064240" cy="0"/>
          </a:xfrm>
          <a:prstGeom prst="line">
            <a:avLst/>
          </a:prstGeom>
          <a:noFill/>
          <a:ln w="25400">
            <a:solidFill>
              <a:srgbClr val="2E51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288" y="2693744"/>
            <a:ext cx="2843613" cy="164592"/>
          </a:xfrm>
          <a:prstGeom prst="rect">
            <a:avLst/>
          </a:prstGeom>
          <a:solidFill>
            <a:srgbClr val="E3963E"/>
          </a:solidFill>
          <a:ln/>
        </p:spPr>
      </p:sp>
      <p:sp>
        <p:nvSpPr>
          <p:cNvPr id="7" name="Shape 5"/>
          <p:cNvSpPr/>
          <p:nvPr/>
        </p:nvSpPr>
        <p:spPr>
          <a:xfrm>
            <a:off x="563424" y="27211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407037" y="27211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648" y="239720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5, 2023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6101" y="295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30, 2023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648" y="2084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DAYS WITHOUT A VALID OBSERVATION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50653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5586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60519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5452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70386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75319" y="327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7288"/>
            <a:ext cx="11274552" cy="26463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20" name="Image 0" descr="images/fig_gap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672152"/>
            <a:ext cx="6400800" cy="2481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2940" y="450155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distribution across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thresholds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509760" y="4208944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within-season intervals fall under 10 days — but a persistent tail of intervals exceeding 16–30+ days recurs across every threshold.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THRESHOLD SENSITIVITY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Stricter quality criteria trigger a sharp jump in maximum gap length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within-season gap held steady at 55 days from the 50% through 80% thresholds — but expanded to 90 days at the 90% threshold, as previously continuity-preserving observations were removed and shorter intervals merged into one long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7635240" cy="406908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pic>
        <p:nvPicPr>
          <p:cNvPr id="6" name="Image 0" descr="images/fig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77440"/>
            <a:ext cx="731520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2240280"/>
            <a:ext cx="3410712" cy="4069080"/>
          </a:xfrm>
          <a:prstGeom prst="roundRect">
            <a:avLst>
              <a:gd name="adj" fmla="val 2145"/>
            </a:avLst>
          </a:prstGeom>
          <a:solidFill>
            <a:srgbClr val="0B2F44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BREAKPOINT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0" y="27889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90% threshold, availability falls to 25.40% and the maximum gap widens to 90 days — spanning June 5 to September 3, 2023.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95360" y="3931920"/>
            <a:ext cx="2926080" cy="0"/>
          </a:xfrm>
          <a:prstGeom prst="line">
            <a:avLst/>
          </a:prstGeom>
          <a:noFill/>
          <a:ln w="12700">
            <a:solidFill>
              <a:srgbClr val="2E51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4114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90-day interval represents a substantial share of the entire monitoring window — a critical constraint for any reconstruction relying on the strictest quality bar.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MISSING DATA CONSISTENCY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all 126 acquisitions from raw NDVI to threshold validity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median is null exactly when clear-cropland % = 0%. Of 68 acquisitions with a computable NDVI, only 47 additionally met the 50% clear-cropland validity bar — reconciling to 79 invalid acquisitions overall (58 null + 21 below threshold).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033272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317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8869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acquisitions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081528"/>
            <a:ext cx="786384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0815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308152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median available (clear-cropland % &gt; 0%)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3831336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6FA95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8313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3831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observations (clear-cropland % ≥ 50%)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2331720"/>
            <a:ext cx="2542032" cy="566928"/>
          </a:xfrm>
          <a:prstGeom prst="roundRect">
            <a:avLst>
              <a:gd name="adj" fmla="val 9677"/>
            </a:avLst>
          </a:prstGeom>
          <a:solidFill>
            <a:srgbClr val="EF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331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null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 clear-cropland)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3081528"/>
            <a:ext cx="2542032" cy="566928"/>
          </a:xfrm>
          <a:prstGeom prst="roundRect">
            <a:avLst>
              <a:gd name="adj" fmla="val 9677"/>
            </a:avLst>
          </a:prstGeom>
          <a:solidFill>
            <a:srgbClr val="EF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30815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below 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 &lt; clear-cropland &lt; 50%)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RECONCILIATION OF NDVI AVAILABILITY AND THRESHOLD-BASED VALIDITY (n = 126)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7680960" cy="91440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acquisitions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median available (clear-cropland % &gt; 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median null (clear-cropland % = 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observations (clear-cropland % ≥ 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acquisitions (clear-cropland % &lt; 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DIRECTLY OBSERVED NDVI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that remains: direct NDVI observations, no interpolation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pic>
        <p:nvPicPr>
          <p:cNvPr id="5" name="Image 0" descr="images/fig_nd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10817352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represent acquisitions satisfying the 50% clear-cropland validity criterion; no smoothing or interpolation has been applied between them. The visible clustering and blank intervals are the direct signature of the observation gaps quantified in this study.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observations cluster — they don’t thin out evenly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clustering effect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availability summarizes how many acquisitions were usable, but not how they are distributed through time. The 55-day interval shows that relatively sparse usable observations can cluster in ways that create substantial periods without direct optical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6576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 for interpolation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242316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continuous NDVI reconstruction across these gaps requires interpolation or smoothing rather than direct observation — particularly across the 55- and 90-day gaps identified here, where estimated values would dominate the record.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74736" y="1600200"/>
            <a:ext cx="3657600" cy="64008"/>
          </a:xfrm>
          <a:prstGeom prst="rect">
            <a:avLst/>
          </a:prstGeom>
          <a:solidFill>
            <a:srgbClr val="E3963E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the research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74736" y="242316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cloud and shadow contamination substantially reduces Sentinel-2 temporal availability for NDVI-based rice monitoring in Sylhet — manifesting as a small number of severe, clustered gaps rather than uniform thinning of the record.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—  REGIONAL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Sylhet unusually cloud-prone — or is this the regional norm?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isolation, 37.3% availability could suggest an unusually cloud-prone site. The broader literature points instead to a general feature of monsoon-season optical remote sensing across South and Southeast Asia.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0F3A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Sentinel-2 metadata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contamination is spatially and seasonally structured; acquisition frequency alone poorly predicts usable-scene frequency.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2423160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0F3A54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Tropics-wide Landsat / S2 studies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07992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Multi-week to multi-month waits between cloud-free observations are reported across persistently cloudy regions, even with frequent nominal revisit.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2423160"/>
            <a:ext cx="3639312" cy="2331720"/>
          </a:xfrm>
          <a:prstGeom prst="roundRect">
            <a:avLst>
              <a:gd name="adj" fmla="val 3137"/>
            </a:avLst>
          </a:prstGeom>
          <a:solidFill>
            <a:srgbClr val="0F3A54"/>
          </a:solidFill>
          <a:ln/>
        </p:spPr>
      </p:sp>
      <p:sp>
        <p:nvSpPr>
          <p:cNvPr id="12" name="Text 10"/>
          <p:cNvSpPr/>
          <p:nvPr/>
        </p:nvSpPr>
        <p:spPr>
          <a:xfrm>
            <a:off x="8330184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 SAR practice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30184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paddy-rice mapping across cloud-prone Bangladesh and Northeast India relied on Sentinel-1 SAR precisely because optical revisit could not deliver reliable clear-sky observations.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study’s optical-only availability figures are best read as a quantitative case for the established SAR / optical–SAR fusion practice — showing, in numeric terms, the size of the gap such an approach would need to close for this study area.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WEAKNESSES &amp;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limitations to weigh when interpreting these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“gaps” are artifacts of the selected masking procedure and thresholds — not proof of zero usable sensor information.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53619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85432" y="166420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interpretation is constrained by a lack of independent ground-truth farming calendars for the specific ROI.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17296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masking parameters involve inherent trade-offs between commission and omission errors.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304495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85432" y="317296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seasonally and ROI-specific; they may not represent annual monsoon behavior outside the Aman agricultural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68172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is restricted to optical data and does not incorporate SAR alternatives, which are less affected by cloud cover.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4553712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E396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85432" y="4681728"/>
            <a:ext cx="464515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55- and 90-day maximum gaps are pooled across three seasons — a year-by-year decomposition has not yet been computed, so it is unclear whether 2023 is representative or an anomalous driver of the pooled maximum.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uncertainty-aware approach for cloud-prone NDVI monitoring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 and shadow-screening substantially reduced usable Sentinel-2 acquisitions in the Sylhet ROI. At the 50% clear-cropland criterion, only 37.3% of opportunities were valid, with a maximum within-season gap of 55 days — consistent with independent assessments of monsoon-tropics optical availability, reflecting a regional constraint rather than a site-specific anomaly. Agricultural monitoring systems should explicitly distinguish direct empirical observations from interpolated estimates when reconstructing vegetation trajectories in cloud-prone environments.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TABLE  —  KEY MONITORING METRICS FOR SYLHET AMAN SEASONS (2022–2024)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Obs.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Gap (days)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Gap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vs. 50% (pp)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5 – Jul 30,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5 – Jul 30,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5 – Jul 30,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5 – Jul 30,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5 – Sep 3,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0F3A5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support an uncertainty-aware approach to NDVI time-series analysis — distinguishing direct observations from temporally estimated values.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T. Aman Optical Monitoring Gap Study  |  2022–2024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1983</Words>
  <Application>Microsoft Office PowerPoint</Application>
  <PresentationFormat>Widescreen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durjoy sarker</cp:lastModifiedBy>
  <cp:revision>2</cp:revision>
  <dcterms:created xsi:type="dcterms:W3CDTF">2026-08-18T22:22:48Z</dcterms:created>
  <dcterms:modified xsi:type="dcterms:W3CDTF">2026-08-18T22:26:27Z</dcterms:modified>
</cp:coreProperties>
</file>