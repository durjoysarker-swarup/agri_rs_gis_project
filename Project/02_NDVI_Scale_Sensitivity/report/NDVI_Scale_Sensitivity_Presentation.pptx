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778" y="-9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5810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234F39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291840" cy="3291840"/>
          </a:xfrm>
          <a:prstGeom prst="ellipse">
            <a:avLst/>
          </a:prstGeom>
          <a:solidFill>
            <a:srgbClr val="2A594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4360"/>
            <a:ext cx="566928" cy="566928"/>
          </a:xfrm>
          <a:prstGeom prst="ellipse">
            <a:avLst/>
          </a:prstGeom>
          <a:solidFill>
            <a:srgbClr val="2A594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15" y="670895"/>
            <a:ext cx="413857" cy="4138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417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THESIS RESEARCH — SYLHET DISTRICT, BANGLADESH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NDVI Scale Sensitivity and Edge Effects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40080" y="26060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Smallholder Agricultural Landscapes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40080" y="3337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Sentinel-2 Study from Bangladesh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" y="4297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40080" y="48646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 fields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57600" y="4297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10–30 m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3657600" y="48646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resolutions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75120" y="4297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 m²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675120" y="48646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threshold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Sylhet District · Rice Cultivation · Sentinel-2 Surface Reflectance · 2024 Growing Season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Field Size Matters for Satellite Monitoring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Smallholder agriculture is highly fragmented — plots are small, irregular, and densely packed. When field size approaches a sensor's pixel size, the spectral signal becomes contaminated by adjacent land cover, a phenomenon known as the </a:t>
            </a: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“mixed pixel” effect.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337560"/>
            <a:ext cx="6035040" cy="2697480"/>
          </a:xfrm>
          <a:prstGeom prst="roundRect">
            <a:avLst>
              <a:gd name="adj" fmla="val 2712"/>
            </a:avLst>
          </a:prstGeom>
          <a:solidFill>
            <a:srgbClr val="E7F0E8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3566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39319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NDVI reliability change when field size and spatial resolution mismatch increases in smallholder agricultural landscapes?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52578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agricultural statistics and crop monitoring in regions like Bangladesh, where fields are small and irregular.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95160" y="1691640"/>
            <a:ext cx="502920" cy="502920"/>
          </a:xfrm>
          <a:prstGeom prst="ellipse">
            <a:avLst/>
          </a:prstGeom>
          <a:solidFill>
            <a:srgbClr val="E7F0E8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054" y="1759534"/>
            <a:ext cx="367132" cy="3671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680960" y="166420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offers 10 m resolution, but coarser products (e.g., Landsat 30 m) remain common in historical analysis.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995160" y="3108960"/>
            <a:ext cx="502920" cy="502920"/>
          </a:xfrm>
          <a:prstGeom prst="ellipse">
            <a:avLst/>
          </a:prstGeom>
          <a:solidFill>
            <a:srgbClr val="FBEED9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054" y="3176854"/>
            <a:ext cx="367132" cy="3671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80960" y="308152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pixels arise when crop signal blends with paths, water, or neighboring plots at field boundaries.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995160" y="4526280"/>
            <a:ext cx="502920" cy="502920"/>
          </a:xfrm>
          <a:prstGeom prst="ellipse">
            <a:avLst/>
          </a:prstGeom>
          <a:solidFill>
            <a:srgbClr val="E7F0E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3054" y="4594174"/>
            <a:ext cx="367132" cy="3671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680960" y="449884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Sylhet District, Bangladesh — dominated by small-scale, irregular rice plots.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Scale Sensitivity &amp; Edge Effects — Sylhet, Bangladesh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Area &amp;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Sylhet District, Bangladesh</a:t>
            </a:r>
            <a:endParaRPr lang="en-US" sz="2800" dirty="0"/>
          </a:p>
        </p:txBody>
      </p:sp>
      <p:pic>
        <p:nvPicPr>
          <p:cNvPr id="4" name="Image 0" descr="fig_studyar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600200"/>
            <a:ext cx="6035040" cy="30625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60720" y="473591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Study area — sampled field locations across Sylhet District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region of diverse, small-scale agricultural plots primarily dedicated to rice cultivation.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23160"/>
          <a:ext cx="5029200" cy="226771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Sentinel-2 Surface Reflectance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 / 20 m / 30 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Multi-spectral imagery; Jul 1 – Nov 30, 2024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NASA Harvest FTW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AI-generated agricultural field boundaries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Sylhet District Boundary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Administrative boundary for spatial clipping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074920"/>
            <a:ext cx="1627632" cy="1051560"/>
          </a:xfrm>
          <a:prstGeom prst="roundRect">
            <a:avLst>
              <a:gd name="adj" fmla="val 5217"/>
            </a:avLst>
          </a:prstGeom>
          <a:solidFill>
            <a:srgbClr val="E7F0E8"/>
          </a:solidFill>
          <a:ln/>
        </p:spPr>
      </p:sp>
      <p:sp>
        <p:nvSpPr>
          <p:cNvPr id="9" name="Text 5"/>
          <p:cNvSpPr/>
          <p:nvPr/>
        </p:nvSpPr>
        <p:spPr>
          <a:xfrm>
            <a:off x="548640" y="516636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621792" y="5650992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sampled fields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2331720" y="5074920"/>
            <a:ext cx="1627632" cy="1051560"/>
          </a:xfrm>
          <a:prstGeom prst="roundRect">
            <a:avLst>
              <a:gd name="adj" fmla="val 5217"/>
            </a:avLst>
          </a:prstGeom>
          <a:solidFill>
            <a:srgbClr val="E7F0E8"/>
          </a:solidFill>
          <a:ln/>
        </p:spPr>
      </p:sp>
      <p:sp>
        <p:nvSpPr>
          <p:cNvPr id="12" name="Text 8"/>
          <p:cNvSpPr/>
          <p:nvPr/>
        </p:nvSpPr>
        <p:spPr>
          <a:xfrm>
            <a:off x="2331720" y="516636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2404872" y="5650992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classes (50 each)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114800" y="5074920"/>
            <a:ext cx="1627632" cy="1051560"/>
          </a:xfrm>
          <a:prstGeom prst="roundRect">
            <a:avLst>
              <a:gd name="adj" fmla="val 5217"/>
            </a:avLst>
          </a:prstGeom>
          <a:solidFill>
            <a:srgbClr val="E7F0E8"/>
          </a:solidFill>
          <a:ln/>
        </p:spPr>
      </p:sp>
      <p:sp>
        <p:nvSpPr>
          <p:cNvPr id="15" name="Text 11"/>
          <p:cNvSpPr/>
          <p:nvPr/>
        </p:nvSpPr>
        <p:spPr>
          <a:xfrm>
            <a:off x="4114800" y="516636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months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4187952" y="5650992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Imagery acquisition window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Scale Sensitivity &amp; Edge Effects — Sylhet, Bangladesh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Geometry &amp; Bias Variables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949440" cy="396849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surface area of the agricultural field.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of the field excluding a 2.5 m inward buffer.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Proportion of the field categorized as “edge” relative to total area.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 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 of geometric complexity and elongation.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 between 30 m aggregated NDVI and baseline 10 m NDVI.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NDVI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Effect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 difference between Core NDVI and Edge NDVI.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NDVI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7818120" y="1554480"/>
            <a:ext cx="3840480" cy="3794760"/>
          </a:xfrm>
          <a:prstGeom prst="roundRect">
            <a:avLst>
              <a:gd name="adj" fmla="val 1928"/>
            </a:avLst>
          </a:prstGeom>
          <a:solidFill>
            <a:srgbClr val="1B433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92440" y="1810512"/>
            <a:ext cx="502920" cy="502920"/>
          </a:xfrm>
          <a:prstGeom prst="ellipse">
            <a:avLst/>
          </a:prstGeom>
          <a:solidFill>
            <a:srgbClr val="2A594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0334" y="1878406"/>
            <a:ext cx="367132" cy="3671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3252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F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INDEX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092440" y="2606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= Perimeter / (2 × √(π × Area))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8092440" y="3383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r>
              <a:rPr lang="en-US" sz="1250" dirty="0">
                <a:solidFill>
                  <a:srgbClr val="DC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a perfectly circular plot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092440" y="3794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r>
              <a:rPr lang="en-US" sz="1250" dirty="0">
                <a:solidFill>
                  <a:srgbClr val="DC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more elongated / irregular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8092440" y="44348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B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Elongated fields have a higher perimeter-to-area ratio — exposing more pixels to boundary contamination.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Scale Sensitivity &amp; Edge Effects — Sylhet, Bangladesh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Processing Workflow</a:t>
            </a:r>
            <a:endParaRPr lang="en-US" sz="2600" dirty="0"/>
          </a:p>
        </p:txBody>
      </p:sp>
      <p:pic>
        <p:nvPicPr>
          <p:cNvPr id="4" name="Image 0" descr="fig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5924" y="1170432"/>
            <a:ext cx="4537104" cy="5623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Scale Sensitivity &amp; Edge Effects — Sylhet, Bangladesh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Boundaries to Core/Edge Geometry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2011680"/>
          </a:xfrm>
          <a:prstGeom prst="roundRect">
            <a:avLst>
              <a:gd name="adj" fmla="val 3182"/>
            </a:avLst>
          </a:prstGeom>
          <a:solidFill>
            <a:srgbClr val="E7F0E8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962" y="1981962"/>
            <a:ext cx="333756" cy="3337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745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0 — Pre-processing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FTW tiles merged via GeoPandas; geometry errors resolved with a zero-width buffer; clipped to the Sylhet boundary. A stratified sample of 200 fields was drawn (50 per size class: Small &lt;300 m², Medium 300–1,500 m², Large 1,500–5,000 m², Very Large &gt;5,000 m²).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212080" cy="2011680"/>
          </a:xfrm>
          <a:prstGeom prst="roundRect">
            <a:avLst>
              <a:gd name="adj" fmla="val 3182"/>
            </a:avLst>
          </a:prstGeom>
          <a:solidFill>
            <a:srgbClr val="F3F1E9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9202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962" y="1981962"/>
            <a:ext cx="333756" cy="3337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8745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Geometric Analysis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37960" y="246888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2.5 m inward buffer — representing a sub-pixel shift at 10 m resolution — separates the field “core” from its “edge.” This fixed buffering may disproportionately shrink the core of the smallest fields.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212080" cy="2011680"/>
          </a:xfrm>
          <a:prstGeom prst="roundRect">
            <a:avLst>
              <a:gd name="adj" fmla="val 3182"/>
            </a:avLst>
          </a:prstGeom>
          <a:solidFill>
            <a:srgbClr val="E7F0E8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962" y="4222242"/>
            <a:ext cx="333756" cy="3337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41148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GEE NDVI Processing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470916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computed at 10 m native resolution from Sentinel-2 SR (COPERNICUS/S2_SR); SCL-based cloud masking excludes shadow, medium/high cloud, and cirrus pixels; a median composite is generated, then upsampled to 20 m and 30 m via mean reduceResolution.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263640" y="3931920"/>
            <a:ext cx="5212080" cy="2011680"/>
          </a:xfrm>
          <a:prstGeom prst="roundRect">
            <a:avLst>
              <a:gd name="adj" fmla="val 3182"/>
            </a:avLst>
          </a:prstGeom>
          <a:solidFill>
            <a:srgbClr val="F3F1E9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1605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962" y="4222242"/>
            <a:ext cx="333756" cy="3337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1148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Statistical Analysis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37960" y="470916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Bias20/Bias30 computed against the 10 m baseline; Edge Effect as core−edge NDVI difference; reliability classified using a threshold of |bias30| &lt; 0.05; significance assessed via Pearson correlation and regression.</a:t>
            </a:r>
            <a:endParaRPr lang="en-US" sz="108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Scale Sensitivity &amp; Edge Effects — Sylhet, Bangladesh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Landscape of Small, Fragmented Fields</a:t>
            </a:r>
            <a:endParaRPr lang="en-US" sz="2800" dirty="0"/>
          </a:p>
        </p:txBody>
      </p:sp>
      <p:pic>
        <p:nvPicPr>
          <p:cNvPr id="4" name="Image 0" descr="fig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6949440" cy="29207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749579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3: Field size distribution (1–25,000 m², n = 200)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818120" y="1783080"/>
            <a:ext cx="3840480" cy="3931920"/>
          </a:xfrm>
          <a:prstGeom prst="roundRect">
            <a:avLst>
              <a:gd name="adj" fmla="val 1905"/>
            </a:avLst>
          </a:prstGeom>
          <a:solidFill>
            <a:srgbClr val="E7F0E8"/>
          </a:solidFill>
          <a:ln/>
        </p:spPr>
      </p:sp>
      <p:sp>
        <p:nvSpPr>
          <p:cNvPr id="7" name="Shape 4"/>
          <p:cNvSpPr/>
          <p:nvPr/>
        </p:nvSpPr>
        <p:spPr>
          <a:xfrm>
            <a:off x="8092440" y="2011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334" y="2079574"/>
            <a:ext cx="367132" cy="3671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32520" y="20299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Heavily skewed toward small plots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092440" y="27432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sample is dominated by the smallest size classes — directly reflecting the subsistence-level land tenure typical of the Sylhet region.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092440" y="4069080"/>
            <a:ext cx="3291840" cy="0"/>
          </a:xfrm>
          <a:prstGeom prst="line">
            <a:avLst/>
          </a:prstGeom>
          <a:noFill/>
          <a:ln w="12700">
            <a:solidFill>
              <a:srgbClr val="C9D9C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092440" y="4206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092440" y="44805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real-world plots fall well below the sizes at which coarser-resolution NDVI remains reliable (see next slides).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Scale Sensitivity &amp; Edge Effects — Sylhet, Bangladesh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Scale-Induced NDVI Bias</a:t>
            </a:r>
            <a:endParaRPr lang="en-US" sz="2800" dirty="0"/>
          </a:p>
        </p:txBody>
      </p:sp>
      <p:pic>
        <p:nvPicPr>
          <p:cNvPr id="4" name="Image 0" descr="fig_scaleb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54864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852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4: Field area vs. absolute NDVI bias at 30 m resolution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46520" y="16916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1B4332"/>
          </a:solidFill>
          <a:ln/>
        </p:spPr>
      </p:sp>
      <p:sp>
        <p:nvSpPr>
          <p:cNvPr id="7" name="Text 4"/>
          <p:cNvSpPr/>
          <p:nvPr/>
        </p:nvSpPr>
        <p:spPr>
          <a:xfrm>
            <a:off x="6720840" y="1828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98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−0.18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72084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052560" y="18745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area &amp; abs_bias30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46520" y="33375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field size decreases, aggregation error increases. </a:t>
            </a: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Coarsening from 10 m to 30 m causes NDVI values to deviate substantially from baseline for the smallest plots.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46520" y="4297680"/>
            <a:ext cx="5212080" cy="1325880"/>
          </a:xfrm>
          <a:prstGeom prst="roundRect">
            <a:avLst>
              <a:gd name="adj" fmla="val 5517"/>
            </a:avLst>
          </a:prstGeom>
          <a:solidFill>
            <a:srgbClr val="FBEED9"/>
          </a:solidFill>
          <a:ln/>
        </p:spPr>
      </p:sp>
      <p:sp>
        <p:nvSpPr>
          <p:cNvPr id="12" name="Shape 9"/>
          <p:cNvSpPr/>
          <p:nvPr/>
        </p:nvSpPr>
        <p:spPr>
          <a:xfrm>
            <a:off x="6675120" y="450799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014" y="4575886"/>
            <a:ext cx="367132" cy="3671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0" y="4370832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below </a:t>
            </a:r>
            <a:r>
              <a:rPr lang="en-US" sz="1350" b="1" dirty="0">
                <a:solidFill>
                  <a:srgbClr val="B3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 m²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exhibit substantially higher NDVI bias at 30 m resolution.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Scale Sensitivity &amp; Edge Effects — Sylhet, Bangladesh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Geometry-Driven Edge Contamination</a:t>
            </a:r>
            <a:endParaRPr lang="en-US" sz="2800" dirty="0"/>
          </a:p>
        </p:txBody>
      </p:sp>
      <p:pic>
        <p:nvPicPr>
          <p:cNvPr id="4" name="Image 0" descr="fig_edgecont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54864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852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5: Shape complexity vs. absolute NDVI bias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46520" y="16916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1B4332"/>
          </a:solidFill>
          <a:ln/>
        </p:spPr>
      </p:sp>
      <p:sp>
        <p:nvSpPr>
          <p:cNvPr id="7" name="Text 4"/>
          <p:cNvSpPr/>
          <p:nvPr/>
        </p:nvSpPr>
        <p:spPr>
          <a:xfrm>
            <a:off x="6720840" y="1828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98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0.25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72084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052560" y="18745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Index &amp; NDVI bias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46520" y="333756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Elongated fields contaminate faster. </a:t>
            </a: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higher perimeter-to-area ratio means a larger share of pixels are “mixed” with paths, water, or neighboring crops — even at native 10 m resolution.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46520" y="470916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E7F0E8"/>
          </a:solidFill>
          <a:ln/>
        </p:spPr>
      </p:sp>
      <p:sp>
        <p:nvSpPr>
          <p:cNvPr id="12" name="Shape 9"/>
          <p:cNvSpPr/>
          <p:nvPr/>
        </p:nvSpPr>
        <p:spPr>
          <a:xfrm>
            <a:off x="6675120" y="48646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842" y="4926330"/>
            <a:ext cx="333756" cy="3337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477316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complexity matters as much as total area in determining signal purity.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Scale Sensitivity &amp; Edge Effects — Sylhet, Bangladesh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NDVI Become Reliable?</a:t>
            </a:r>
            <a:endParaRPr lang="en-US" sz="2800" dirty="0"/>
          </a:p>
        </p:txBody>
      </p:sp>
      <p:pic>
        <p:nvPicPr>
          <p:cNvPr id="4" name="Image 0" descr="fig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5577840" cy="37451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573921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6: Distribution of absolute NDVI bias by field size class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537960" y="178308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BEED9"/>
          </a:solidFill>
          <a:ln/>
        </p:spPr>
      </p:sp>
      <p:sp>
        <p:nvSpPr>
          <p:cNvPr id="7" name="Text 4"/>
          <p:cNvSpPr/>
          <p:nvPr/>
        </p:nvSpPr>
        <p:spPr>
          <a:xfrm>
            <a:off x="6812280" y="1920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98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m²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9006840" y="1993392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area where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abs_bias30 first falls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0.05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12280" y="28803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threshold — individual fields can pass here, but not consistently.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537960" y="365760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1B4332"/>
          </a:solidFill>
          <a:ln/>
        </p:spPr>
      </p:sp>
      <p:sp>
        <p:nvSpPr>
          <p:cNvPr id="11" name="Text 8"/>
          <p:cNvSpPr/>
          <p:nvPr/>
        </p:nvSpPr>
        <p:spPr>
          <a:xfrm>
            <a:off x="6812280" y="37947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 m²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9006840" y="3867912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above this size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consistently stable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(abs_bias30 &lt; 0.05)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812280" y="4754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C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practical reliability threshold for 30 m aggregation.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Scale Sensitivity &amp; Edge Effects — Sylhet, Bangladesh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Scale &amp; Shape Drive Instability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E7F0E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34" y="1805254"/>
            <a:ext cx="367132" cy="3671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719072"/>
            <a:ext cx="4553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Spread Function (PSF)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94360" y="2304288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sensor's PSF can cause signal leakage from adjacent pixels into the target field, blending spectral responses across boundaries.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63640" y="1737360"/>
            <a:ext cx="502920" cy="502920"/>
          </a:xfrm>
          <a:prstGeom prst="ellipse">
            <a:avLst/>
          </a:prstGeom>
          <a:solidFill>
            <a:srgbClr val="E7F0E8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534" y="1805254"/>
            <a:ext cx="367132" cy="3671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22008" y="1719072"/>
            <a:ext cx="4553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Geometric registration uncertainty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309360" y="2304288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misalignments between satellite acquisitions shift pixel footprints relative to field boundaries over time.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E7F0E8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534" y="3954094"/>
            <a:ext cx="367132" cy="3671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7008" y="3867912"/>
            <a:ext cx="4553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Mixed-pixel proportion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594360" y="4453128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field size shrinks relative to the 30 m pixel, the mathematical share of “mixed” pixels rises — driving the instability seen below 90 m².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63640" y="3886200"/>
            <a:ext cx="502920" cy="502920"/>
          </a:xfrm>
          <a:prstGeom prst="ellipse">
            <a:avLst/>
          </a:prstGeom>
          <a:solidFill>
            <a:srgbClr val="E7F0E8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1534" y="3954094"/>
            <a:ext cx="367132" cy="3671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22008" y="3867912"/>
            <a:ext cx="4553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Perimeter-to-area ratio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309360" y="4453128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Elongated fields confirm that shape — not just total area — is critical for judging whether medium-resolution data suits crop monitoring.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Scale Sensitivity &amp; Edge Effects — Sylhet, Bangladesh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Scope, Caveats, and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BF4E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574" y="1988134"/>
            <a:ext cx="367132" cy="3671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476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98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buffering: </a:t>
            </a: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2.5 m buffer targets sub-pixel shifts but may over-reduce the core of the smallest field class.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6576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boundary uncertainty: </a:t>
            </a: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Harvest FTW boundaries are AI-generated and may contain geometric errors or over-segmentation.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4709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&amp; spatial scope: </a:t>
            </a: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one district (Sylhet) and one growing season.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1B4332"/>
          </a:solidFill>
          <a:ln/>
        </p:spPr>
      </p:sp>
      <p:sp>
        <p:nvSpPr>
          <p:cNvPr id="12" name="Shape 9"/>
          <p:cNvSpPr/>
          <p:nvPr/>
        </p:nvSpPr>
        <p:spPr>
          <a:xfrm>
            <a:off x="6583680" y="1920240"/>
            <a:ext cx="502920" cy="502920"/>
          </a:xfrm>
          <a:prstGeom prst="ellipse">
            <a:avLst/>
          </a:prstGeom>
          <a:solidFill>
            <a:srgbClr val="2A594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574" y="1988134"/>
            <a:ext cx="367132" cy="3671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19476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583680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3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manually digitized field boundaries to assess AI-boundary accuracy.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583680" y="36576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3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sensitivity analyses across different crop types beyond rice.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583680" y="4709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E3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the 180 m² stability threshold holds across diverse ecological zones and growing seasons.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Scale Sensitivity &amp; Edge Effects — Sylhet, Bangladesh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4572000" cy="4572000"/>
          </a:xfrm>
          <a:prstGeom prst="ellipse">
            <a:avLst/>
          </a:prstGeom>
          <a:solidFill>
            <a:srgbClr val="234F39"/>
          </a:solidFill>
          <a:ln/>
        </p:spPr>
        <p:txBody>
          <a:bodyPr/>
          <a:lstStyle/>
          <a:p>
            <a:r>
              <a:rPr lang="en-GB"/>
              <a:t> </a:t>
            </a: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Scale-induced errors are real — and predictable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DCE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10 m data remains effective for smallholder monitoring, but aggregating to 30 m introduces significant bias in fields smaller than 180 m². Agricultural monitoring in fragmented landscapes must explicitly account for scale-induced error — particularly where field dimensions approach the sensor's pixel size.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2A594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74" y="4274134"/>
            <a:ext cx="367132" cy="3671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420624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AFC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reproducible — GEE scripts, Python notebooks, and data workflows available via the project repository.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909560" y="210312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2A5940"/>
          </a:solidFill>
          <a:ln/>
        </p:spPr>
      </p:sp>
      <p:sp>
        <p:nvSpPr>
          <p:cNvPr id="10" name="Text 7"/>
          <p:cNvSpPr/>
          <p:nvPr/>
        </p:nvSpPr>
        <p:spPr>
          <a:xfrm>
            <a:off x="8183880" y="2240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8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m² → 180 m²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183880" y="28346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F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Floor-to-stable reliability range identified for 30 m NDVI aggregation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909560" y="379476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2A5940"/>
          </a:solidFill>
          <a:ln/>
        </p:spPr>
      </p:sp>
      <p:sp>
        <p:nvSpPr>
          <p:cNvPr id="13" name="Text 10"/>
          <p:cNvSpPr/>
          <p:nvPr/>
        </p:nvSpPr>
        <p:spPr>
          <a:xfrm>
            <a:off x="8183880" y="3931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8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 &gt; Size alone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183880" y="44805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F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Elongation (perimeter-to-area ratio) independently predicts edge contamination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0080" y="6309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Sylhet District · NDVI Scale Sensitivity &amp; Edge Effects · BSc Thesis Research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1382</Words>
  <Application>Microsoft Office PowerPoint</Application>
  <PresentationFormat>Widescreen</PresentationFormat>
  <Paragraphs>185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NDVI Scale Sensitivity and Edge Effects in Smallholder Agricultural Landscapes</dc:title>
  <dc:subject>PptxGenJS Presentation</dc:subject>
  <dc:creator>Swarup</dc:creator>
  <cp:lastModifiedBy>durjoy sarker</cp:lastModifiedBy>
  <cp:revision>2</cp:revision>
  <dcterms:created xsi:type="dcterms:W3CDTF">2026-06-21T07:04:58Z</dcterms:created>
  <dcterms:modified xsi:type="dcterms:W3CDTF">2026-06-21T07:08:50Z</dcterms:modified>
</cp:coreProperties>
</file>