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14" y="-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6504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64C8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097280"/>
            <a:ext cx="3657600" cy="3657600"/>
          </a:xfrm>
          <a:prstGeom prst="ellipse">
            <a:avLst/>
          </a:prstGeom>
          <a:solidFill>
            <a:srgbClr val="1E3A7A">
              <a:alpha val="60000"/>
            </a:srgbClr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-365760"/>
            <a:ext cx="2286000" cy="2286000"/>
          </a:xfrm>
          <a:prstGeom prst="ellipse">
            <a:avLst/>
          </a:prstGeom>
          <a:solidFill>
            <a:srgbClr val="2850A0">
              <a:alpha val="50000"/>
            </a:srgbClr>
          </a:solidFill>
          <a:ln w="12700">
            <a:solidFill>
              <a:srgbClr val="285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9144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Cloud Masking on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Risk Classification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NDVI Analysis · Sylhet District, Bangladesh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206240"/>
            <a:ext cx="3383280" cy="1280160"/>
          </a:xfrm>
          <a:prstGeom prst="rect">
            <a:avLst/>
          </a:prstGeom>
          <a:solidFill>
            <a:srgbClr val="1A3A7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425196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87,982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48463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Cells Analysed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4206240"/>
            <a:ext cx="3383280" cy="1280160"/>
          </a:xfrm>
          <a:prstGeom prst="rect">
            <a:avLst/>
          </a:prstGeom>
          <a:solidFill>
            <a:srgbClr val="1A3A7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9120" y="425196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200×200 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389120" y="48463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Grid Size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4206240"/>
            <a:ext cx="3383280" cy="1280160"/>
          </a:xfrm>
          <a:prstGeom prst="rect">
            <a:avLst/>
          </a:prstGeom>
          <a:solidFill>
            <a:srgbClr val="1A3A7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38160" y="425196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138160" y="48463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Mask Pipelines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GB" sz="1200" dirty="0">
                <a:solidFill>
                  <a:schemeClr val="bg1">
                    <a:lumMod val="75000"/>
                  </a:schemeClr>
                </a:solidFill>
              </a:rPr>
              <a:t>Report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Setup &amp; Data Acquisition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3035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303520" cy="502920"/>
          </a:xfrm>
          <a:prstGeom prst="rect">
            <a:avLst/>
          </a:prstGeom>
          <a:solidFill>
            <a:srgbClr val="1E64C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SETUP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5029200" cy="548640"/>
          </a:xfrm>
          <a:prstGeom prst="rect">
            <a:avLst/>
          </a:prstGeom>
          <a:solidFill>
            <a:srgbClr val="EEF3FB"/>
          </a:solidFill>
          <a:ln w="12700">
            <a:solidFill>
              <a:srgbClr val="E0E8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Area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06040" y="1737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Sylhet District, Bangladesh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350008"/>
            <a:ext cx="5029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957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Tool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06040" y="239572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GeoPandas (Python)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008376"/>
            <a:ext cx="5029200" cy="548640"/>
          </a:xfrm>
          <a:prstGeom prst="rect">
            <a:avLst/>
          </a:prstGeom>
          <a:solidFill>
            <a:srgbClr val="EEF3FB"/>
          </a:solidFill>
          <a:ln w="12700">
            <a:solidFill>
              <a:srgbClr val="E0E8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5409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Resolution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305409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× 200 m  (4 ha per cell)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3666744"/>
            <a:ext cx="5029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1246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Cells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06040" y="371246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87,982 cells (after dropna())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4325112"/>
            <a:ext cx="5029200" cy="548640"/>
          </a:xfrm>
          <a:prstGeom prst="rect">
            <a:avLst/>
          </a:prstGeom>
          <a:solidFill>
            <a:srgbClr val="EEF3FB"/>
          </a:solidFill>
          <a:ln w="12700">
            <a:solidFill>
              <a:srgbClr val="E0E8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3708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 Scale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06040" y="43708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 native (Sentinel-2 MSI)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4983480"/>
            <a:ext cx="5029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029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 Function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06040" y="5029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reduceRegions()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1005840"/>
            <a:ext cx="53035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1005840"/>
            <a:ext cx="530352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10058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GEE PIPELINES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37960" y="1691640"/>
            <a:ext cx="5029200" cy="1234440"/>
          </a:xfrm>
          <a:prstGeom prst="rect">
            <a:avLst/>
          </a:prstGeom>
          <a:solidFill>
            <a:srgbClr val="FFE8C8"/>
          </a:solidFill>
          <a:ln w="12700">
            <a:solidFill>
              <a:srgbClr val="C0601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37960" y="1691640"/>
            <a:ext cx="164592" cy="1234440"/>
          </a:xfrm>
          <a:prstGeom prst="rect">
            <a:avLst/>
          </a:prstGeom>
          <a:solidFill>
            <a:srgbClr val="C06010"/>
          </a:solidFill>
          <a:ln/>
        </p:spPr>
      </p:sp>
      <p:sp>
        <p:nvSpPr>
          <p:cNvPr id="29" name="Text 27"/>
          <p:cNvSpPr/>
          <p:nvPr/>
        </p:nvSpPr>
        <p:spPr>
          <a:xfrm>
            <a:off x="6812280" y="176479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0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  —  Standard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12280" y="2194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SCL Masking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37960" y="3154680"/>
            <a:ext cx="5029200" cy="1234440"/>
          </a:xfrm>
          <a:prstGeom prst="rect">
            <a:avLst/>
          </a:prstGeom>
          <a:solidFill>
            <a:srgbClr val="D2F5E0"/>
          </a:solidFill>
          <a:ln w="12700">
            <a:solidFill>
              <a:srgbClr val="226F3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537960" y="3154680"/>
            <a:ext cx="164592" cy="1234440"/>
          </a:xfrm>
          <a:prstGeom prst="rect">
            <a:avLst/>
          </a:prstGeom>
          <a:solidFill>
            <a:srgbClr val="226F3C"/>
          </a:solidFill>
          <a:ln/>
        </p:spPr>
      </p:sp>
      <p:sp>
        <p:nvSpPr>
          <p:cNvPr id="33" name="Text 31"/>
          <p:cNvSpPr/>
          <p:nvPr/>
        </p:nvSpPr>
        <p:spPr>
          <a:xfrm>
            <a:off x="6812280" y="322783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6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  —  Strict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1228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Logic-based Filtering (SCL)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37960" y="4617720"/>
            <a:ext cx="5029200" cy="1234440"/>
          </a:xfrm>
          <a:prstGeom prst="rect">
            <a:avLst/>
          </a:prstGeom>
          <a:solidFill>
            <a:srgbClr val="EDD8FF"/>
          </a:solidFill>
          <a:ln w="12700">
            <a:solidFill>
              <a:srgbClr val="7832B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537960" y="4617720"/>
            <a:ext cx="164592" cy="1234440"/>
          </a:xfrm>
          <a:prstGeom prst="rect">
            <a:avLst/>
          </a:prstGeom>
          <a:solidFill>
            <a:srgbClr val="7832B4"/>
          </a:solidFill>
          <a:ln/>
        </p:spPr>
      </p:sp>
      <p:sp>
        <p:nvSpPr>
          <p:cNvPr id="37" name="Text 35"/>
          <p:cNvSpPr/>
          <p:nvPr/>
        </p:nvSpPr>
        <p:spPr>
          <a:xfrm>
            <a:off x="6812280" y="469087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83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  —  Weak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12280" y="5120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QA60 Bitmasking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760720" y="3657600"/>
            <a:ext cx="640080" cy="0"/>
          </a:xfrm>
          <a:prstGeom prst="line">
            <a:avLst/>
          </a:prstGeom>
          <a:noFill/>
          <a:ln w="12700">
            <a:solidFill>
              <a:srgbClr val="1E64C8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5760720" y="34290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Masking Pipelines — Technical Detail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6576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3657600" cy="594360"/>
          </a:xfrm>
          <a:prstGeom prst="rect">
            <a:avLst/>
          </a:prstGeom>
          <a:solidFill>
            <a:srgbClr val="C0601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058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  ·  Standard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657600" cy="384048"/>
          </a:xfrm>
          <a:prstGeom prst="rect">
            <a:avLst/>
          </a:prstGeom>
          <a:solidFill>
            <a:srgbClr val="FFE8C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002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0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SCL Masking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" y="2194560"/>
            <a:ext cx="128016" cy="128016"/>
          </a:xfrm>
          <a:prstGeom prst="ellipse">
            <a:avLst/>
          </a:prstGeom>
          <a:solidFill>
            <a:srgbClr val="C06010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10312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Sentinel-2 Scene Classification Layer (SCL)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" y="2788920"/>
            <a:ext cx="128016" cy="128016"/>
          </a:xfrm>
          <a:prstGeom prst="ellipse">
            <a:avLst/>
          </a:prstGeom>
          <a:solidFill>
            <a:srgbClr val="C06010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69748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Removes: Shadows (class 3)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" y="3383280"/>
            <a:ext cx="128016" cy="128016"/>
          </a:xfrm>
          <a:prstGeom prst="ellipse">
            <a:avLst/>
          </a:prstGeom>
          <a:solidFill>
            <a:srgbClr val="C06010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329184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Removes: Medium probability clouds (class 8)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" y="3977640"/>
            <a:ext cx="128016" cy="128016"/>
          </a:xfrm>
          <a:prstGeom prst="ellipse">
            <a:avLst/>
          </a:prstGeom>
          <a:solidFill>
            <a:srgbClr val="C06010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88620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Removes: High probability clouds (class 9)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" y="4572000"/>
            <a:ext cx="128016" cy="128016"/>
          </a:xfrm>
          <a:prstGeom prst="ellipse">
            <a:avLst/>
          </a:prstGeom>
          <a:solidFill>
            <a:srgbClr val="C06010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48056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Removes: Cirrus (class 10) &amp; Snow (class 11)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" y="5760720"/>
            <a:ext cx="3383280" cy="457200"/>
          </a:xfrm>
          <a:prstGeom prst="rect">
            <a:avLst/>
          </a:prstGeom>
          <a:solidFill>
            <a:srgbClr val="FFE8C8"/>
          </a:solidFill>
          <a:ln w="12700">
            <a:solidFill>
              <a:srgbClr val="C060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57607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NDVI: 0.529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61688" y="1005840"/>
            <a:ext cx="36576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61688" y="1005840"/>
            <a:ext cx="3657600" cy="594360"/>
          </a:xfrm>
          <a:prstGeom prst="rect">
            <a:avLst/>
          </a:prstGeom>
          <a:solidFill>
            <a:srgbClr val="226F3C"/>
          </a:solidFill>
          <a:ln/>
        </p:spPr>
      </p:sp>
      <p:sp>
        <p:nvSpPr>
          <p:cNvPr id="22" name="Text 20"/>
          <p:cNvSpPr/>
          <p:nvPr/>
        </p:nvSpPr>
        <p:spPr>
          <a:xfrm>
            <a:off x="4407408" y="10058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  ·  Strict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361688" y="1600200"/>
            <a:ext cx="3657600" cy="384048"/>
          </a:xfrm>
          <a:prstGeom prst="rect">
            <a:avLst/>
          </a:prstGeom>
          <a:solidFill>
            <a:srgbClr val="D2F5E0"/>
          </a:solidFill>
          <a:ln/>
        </p:spPr>
      </p:sp>
      <p:sp>
        <p:nvSpPr>
          <p:cNvPr id="24" name="Text 22"/>
          <p:cNvSpPr/>
          <p:nvPr/>
        </p:nvSpPr>
        <p:spPr>
          <a:xfrm>
            <a:off x="4453128" y="16002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26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Logic-based Filtering (SCL)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26280" y="2194560"/>
            <a:ext cx="128016" cy="128016"/>
          </a:xfrm>
          <a:prstGeom prst="ellipse">
            <a:avLst/>
          </a:prstGeom>
          <a:solidFill>
            <a:srgbClr val="226F3C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210312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conservative inclusion strategy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26280" y="2788920"/>
            <a:ext cx="128016" cy="128016"/>
          </a:xfrm>
          <a:prstGeom prst="ellipse">
            <a:avLst/>
          </a:prstGeom>
          <a:solidFill>
            <a:srgbClr val="226F3C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269748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Retains ONLY: Vegetation pixels (class 4)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26280" y="3383280"/>
            <a:ext cx="128016" cy="128016"/>
          </a:xfrm>
          <a:prstGeom prst="ellipse">
            <a:avLst/>
          </a:prstGeom>
          <a:solidFill>
            <a:srgbClr val="226F3C"/>
          </a:solidFill>
          <a:ln/>
        </p:spPr>
      </p:sp>
      <p:sp>
        <p:nvSpPr>
          <p:cNvPr id="30" name="Text 28"/>
          <p:cNvSpPr/>
          <p:nvPr/>
        </p:nvSpPr>
        <p:spPr>
          <a:xfrm>
            <a:off x="4709160" y="329184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Retains ONLY: Bare Soil pixels (class 5)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26280" y="3977640"/>
            <a:ext cx="128016" cy="128016"/>
          </a:xfrm>
          <a:prstGeom prst="ellipse">
            <a:avLst/>
          </a:prstGeom>
          <a:solidFill>
            <a:srgbClr val="226F3C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388620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Retains ONLY: Water pixels (class 6)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26280" y="4572000"/>
            <a:ext cx="128016" cy="128016"/>
          </a:xfrm>
          <a:prstGeom prst="ellipse">
            <a:avLst/>
          </a:prstGeom>
          <a:solidFill>
            <a:srgbClr val="226F3C"/>
          </a:solidFill>
          <a:ln/>
        </p:spPr>
      </p:sp>
      <p:sp>
        <p:nvSpPr>
          <p:cNvPr id="34" name="Text 32"/>
          <p:cNvSpPr/>
          <p:nvPr/>
        </p:nvSpPr>
        <p:spPr>
          <a:xfrm>
            <a:off x="4709160" y="448056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everything else including cloud shadows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498848" y="5760720"/>
            <a:ext cx="3383280" cy="457200"/>
          </a:xfrm>
          <a:prstGeom prst="rect">
            <a:avLst/>
          </a:prstGeom>
          <a:solidFill>
            <a:srgbClr val="D2F5E0"/>
          </a:solidFill>
          <a:ln w="12700">
            <a:solidFill>
              <a:srgbClr val="226F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98848" y="57607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6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NDVI: 0.539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266176" y="1005840"/>
            <a:ext cx="36576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66176" y="1005840"/>
            <a:ext cx="3657600" cy="594360"/>
          </a:xfrm>
          <a:prstGeom prst="rect">
            <a:avLst/>
          </a:prstGeom>
          <a:solidFill>
            <a:srgbClr val="7832B4"/>
          </a:solidFill>
          <a:ln/>
        </p:spPr>
      </p:sp>
      <p:sp>
        <p:nvSpPr>
          <p:cNvPr id="39" name="Text 37"/>
          <p:cNvSpPr/>
          <p:nvPr/>
        </p:nvSpPr>
        <p:spPr>
          <a:xfrm>
            <a:off x="8311896" y="10058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  ·  Weak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266176" y="1600200"/>
            <a:ext cx="3657600" cy="384048"/>
          </a:xfrm>
          <a:prstGeom prst="rect">
            <a:avLst/>
          </a:prstGeom>
          <a:solidFill>
            <a:srgbClr val="EDD8FF"/>
          </a:solidFill>
          <a:ln/>
        </p:spPr>
      </p:sp>
      <p:sp>
        <p:nvSpPr>
          <p:cNvPr id="41" name="Text 39"/>
          <p:cNvSpPr/>
          <p:nvPr/>
        </p:nvSpPr>
        <p:spPr>
          <a:xfrm>
            <a:off x="8357616" y="16002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83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QA60 Bitmasking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430768" y="2194560"/>
            <a:ext cx="128016" cy="128016"/>
          </a:xfrm>
          <a:prstGeom prst="ellipse">
            <a:avLst/>
          </a:prstGeom>
          <a:solidFill>
            <a:srgbClr val="7832B4"/>
          </a:solidFill>
          <a:ln/>
        </p:spPr>
      </p:sp>
      <p:sp>
        <p:nvSpPr>
          <p:cNvPr id="43" name="Text 41"/>
          <p:cNvSpPr/>
          <p:nvPr/>
        </p:nvSpPr>
        <p:spPr>
          <a:xfrm>
            <a:off x="8613648" y="210312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Light-touch approach — least restrictive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430768" y="2788920"/>
            <a:ext cx="128016" cy="128016"/>
          </a:xfrm>
          <a:prstGeom prst="ellipse">
            <a:avLst/>
          </a:prstGeom>
          <a:solidFill>
            <a:srgbClr val="7832B4"/>
          </a:solidFill>
          <a:ln/>
        </p:spPr>
      </p:sp>
      <p:sp>
        <p:nvSpPr>
          <p:cNvPr id="45" name="Text 43"/>
          <p:cNvSpPr/>
          <p:nvPr/>
        </p:nvSpPr>
        <p:spPr>
          <a:xfrm>
            <a:off x="8613648" y="269748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basic QA60 bitmask layer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430768" y="3383280"/>
            <a:ext cx="128016" cy="128016"/>
          </a:xfrm>
          <a:prstGeom prst="ellipse">
            <a:avLst/>
          </a:prstGeom>
          <a:solidFill>
            <a:srgbClr val="7832B4"/>
          </a:solidFill>
          <a:ln/>
        </p:spPr>
      </p:sp>
      <p:sp>
        <p:nvSpPr>
          <p:cNvPr id="47" name="Text 45"/>
          <p:cNvSpPr/>
          <p:nvPr/>
        </p:nvSpPr>
        <p:spPr>
          <a:xfrm>
            <a:off x="8613648" y="329184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Removes: Opaque clouds (Bit 10)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430768" y="3977640"/>
            <a:ext cx="128016" cy="128016"/>
          </a:xfrm>
          <a:prstGeom prst="ellipse">
            <a:avLst/>
          </a:prstGeom>
          <a:solidFill>
            <a:srgbClr val="7832B4"/>
          </a:solidFill>
          <a:ln/>
        </p:spPr>
      </p:sp>
      <p:sp>
        <p:nvSpPr>
          <p:cNvPr id="49" name="Text 47"/>
          <p:cNvSpPr/>
          <p:nvPr/>
        </p:nvSpPr>
        <p:spPr>
          <a:xfrm>
            <a:off x="8613648" y="388620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Removes: Cirrus clouds (Bit 11)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430768" y="4572000"/>
            <a:ext cx="128016" cy="128016"/>
          </a:xfrm>
          <a:prstGeom prst="ellipse">
            <a:avLst/>
          </a:prstGeom>
          <a:solidFill>
            <a:srgbClr val="7832B4"/>
          </a:solidFill>
          <a:ln/>
        </p:spPr>
      </p:sp>
      <p:sp>
        <p:nvSpPr>
          <p:cNvPr id="51" name="Text 49"/>
          <p:cNvSpPr/>
          <p:nvPr/>
        </p:nvSpPr>
        <p:spPr>
          <a:xfrm>
            <a:off x="8613648" y="448056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Sub-pixel contamination may remain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403336" y="5760720"/>
            <a:ext cx="3383280" cy="457200"/>
          </a:xfrm>
          <a:prstGeom prst="rect">
            <a:avLst/>
          </a:prstGeom>
          <a:solidFill>
            <a:srgbClr val="EDD8FF"/>
          </a:solidFill>
          <a:ln w="12700">
            <a:solidFill>
              <a:srgbClr val="7832B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03336" y="57607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83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NDVI: 0.507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Generation &amp; Risk Classification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47120" cy="1371600"/>
          </a:xfrm>
          <a:prstGeom prst="rect">
            <a:avLst/>
          </a:prstGeom>
          <a:solidFill>
            <a:srgbClr val="0F2A5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51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2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Formula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 =  ( Band 8 − Band 4 )  ÷  ( Band 8 + Band 4 )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0" y="10972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Infrared − Red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Infrared + Red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5303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606040"/>
            <a:ext cx="5303520" cy="43891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606040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 PROCESSING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127248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Function: </a:t>
            </a: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reduceRegions()  at 10 m scale
</a:t>
            </a:r>
            <a:r>
              <a:rPr lang="en-US" sz="1100" b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</a:t>
            </a: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× 200 m cells (4 ha)  ·  87,982 valid cells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2606040"/>
            <a:ext cx="5303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4C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0" y="2606040"/>
            <a:ext cx="5303520" cy="438912"/>
          </a:xfrm>
          <a:prstGeom prst="rect">
            <a:avLst/>
          </a:prstGeom>
          <a:solidFill>
            <a:srgbClr val="1E64C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606040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SYSTEM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312724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boundaries:   NDVI &lt; 0.30  |  0.30 – 0.50  |  ≥ 0.50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343400"/>
            <a:ext cx="3657600" cy="1783080"/>
          </a:xfrm>
          <a:prstGeom prst="rect">
            <a:avLst/>
          </a:prstGeom>
          <a:solidFill>
            <a:srgbClr val="FFD8D8"/>
          </a:solidFill>
          <a:ln w="12700">
            <a:solidFill>
              <a:srgbClr val="BE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4434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E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Health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892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5257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E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&lt; 0.30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61688" y="4343400"/>
            <a:ext cx="3657600" cy="1783080"/>
          </a:xfrm>
          <a:prstGeom prst="rect">
            <a:avLst/>
          </a:prstGeom>
          <a:solidFill>
            <a:srgbClr val="FFE8C8"/>
          </a:solidFill>
          <a:ln w="12700">
            <a:solidFill>
              <a:srgbClr val="C0601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53128" y="4434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Health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53128" y="4892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53128" y="5257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 – 0.50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66176" y="4343400"/>
            <a:ext cx="3657600" cy="1783080"/>
          </a:xfrm>
          <a:prstGeom prst="rect">
            <a:avLst/>
          </a:prstGeom>
          <a:solidFill>
            <a:srgbClr val="D2F5E0"/>
          </a:solidFill>
          <a:ln w="12700">
            <a:solidFill>
              <a:srgbClr val="226F3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357616" y="4434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6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Health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57616" y="4892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57616" y="5257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6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≥ 0.50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Stability Analysis — Decision Flip Rates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594360"/>
          </a:xfrm>
          <a:prstGeom prst="rect">
            <a:avLst/>
          </a:prstGeom>
          <a:solidFill>
            <a:srgbClr val="D2E4FF"/>
          </a:solidFill>
          <a:ln w="12700">
            <a:solidFill>
              <a:srgbClr val="1E64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F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"Decision Flip" occurs when a grid cell changes its risk category (Low / Moderate / High) solely due to the choice of cloud mask.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26F3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3657600" cy="548640"/>
          </a:xfrm>
          <a:prstGeom prst="rect">
            <a:avLst/>
          </a:prstGeom>
          <a:solidFill>
            <a:srgbClr val="226F3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7373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  vs  Pipeline 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26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3.15%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Rate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520440"/>
            <a:ext cx="3200400" cy="411480"/>
          </a:xfrm>
          <a:prstGeom prst="rect">
            <a:avLst/>
          </a:prstGeom>
          <a:solidFill>
            <a:srgbClr val="D2F5E0"/>
          </a:solidFill>
          <a:ln w="12700">
            <a:solidFill>
              <a:srgbClr val="226F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520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6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4069080"/>
            <a:ext cx="3383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vs Strict masking. Small difference suggests the Standard SCL mask captures most major cloud features adequately.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61688" y="173736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601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61688" y="1737360"/>
            <a:ext cx="3657600" cy="548640"/>
          </a:xfrm>
          <a:prstGeom prst="rect">
            <a:avLst/>
          </a:prstGeom>
          <a:solidFill>
            <a:srgbClr val="C06010"/>
          </a:solidFill>
          <a:ln/>
        </p:spPr>
      </p:sp>
      <p:sp>
        <p:nvSpPr>
          <p:cNvPr id="15" name="Text 13"/>
          <p:cNvSpPr/>
          <p:nvPr/>
        </p:nvSpPr>
        <p:spPr>
          <a:xfrm>
            <a:off x="4407408" y="17373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  vs  Pipeline 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61688" y="23774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0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6.07%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4361688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Rate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90288" y="3520440"/>
            <a:ext cx="3200400" cy="411480"/>
          </a:xfrm>
          <a:prstGeom prst="rect">
            <a:avLst/>
          </a:prstGeom>
          <a:solidFill>
            <a:srgbClr val="FFE8C8"/>
          </a:solidFill>
          <a:ln w="12700">
            <a:solidFill>
              <a:srgbClr val="C060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0288" y="3520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98848" y="4069080"/>
            <a:ext cx="3383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vs Weak masking. Crosses the 5% sensitivity threshold — highlights gaps between SCL logic and basic QA60 approach.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66176" y="173736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E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66176" y="1737360"/>
            <a:ext cx="3657600" cy="548640"/>
          </a:xfrm>
          <a:prstGeom prst="rect">
            <a:avLst/>
          </a:prstGeom>
          <a:solidFill>
            <a:srgbClr val="BE2828"/>
          </a:solidFill>
          <a:ln/>
        </p:spPr>
      </p:sp>
      <p:sp>
        <p:nvSpPr>
          <p:cNvPr id="23" name="Text 21"/>
          <p:cNvSpPr/>
          <p:nvPr/>
        </p:nvSpPr>
        <p:spPr>
          <a:xfrm>
            <a:off x="8311896" y="17373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  vs  Pipeline 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66176" y="23774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BE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8.70%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8266176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Rate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494776" y="3520440"/>
            <a:ext cx="3200400" cy="411480"/>
          </a:xfrm>
          <a:prstGeom prst="rect">
            <a:avLst/>
          </a:prstGeom>
          <a:solidFill>
            <a:srgbClr val="FFD8D8"/>
          </a:solidFill>
          <a:ln w="12700">
            <a:solidFill>
              <a:srgbClr val="BE28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94776" y="3520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E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SENSITIVITY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03336" y="4069080"/>
            <a:ext cx="3383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vs Weak masking. Highest volatility. 6,073 cells shifted from High to Moderate health due to unmasked atmospheric interference.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6172200"/>
            <a:ext cx="11247120" cy="502920"/>
          </a:xfrm>
          <a:prstGeom prst="rect">
            <a:avLst/>
          </a:prstGeom>
          <a:solidFill>
            <a:srgbClr val="E8EDF5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6172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Scale:   &lt; 5% = Stable   |   5–10% = Sensitive   |   &gt; 10% = High Sensitivity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Mechanism &amp; Operational Impact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4864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00" cy="502920"/>
          </a:xfrm>
          <a:prstGeom prst="rect">
            <a:avLst/>
          </a:prstGeom>
          <a:solidFill>
            <a:srgbClr val="7832B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MECHANISM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764792"/>
            <a:ext cx="365760" cy="365760"/>
          </a:xfrm>
          <a:prstGeom prst="ellipse">
            <a:avLst/>
          </a:prstGeom>
          <a:solidFill>
            <a:srgbClr val="7832B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4650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691640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unmasked clouds remain in composite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423160"/>
            <a:ext cx="365760" cy="365760"/>
          </a:xfrm>
          <a:prstGeom prst="ellipse">
            <a:avLst/>
          </a:prstGeom>
          <a:solidFill>
            <a:srgbClr val="7832B4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40487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2350008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 increase Band 4 (Red) reflectance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081528"/>
            <a:ext cx="365760" cy="365760"/>
          </a:xfrm>
          <a:prstGeom prst="ellipse">
            <a:avLst/>
          </a:prstGeom>
          <a:solidFill>
            <a:srgbClr val="7832B4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06324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3008376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B4 reduces NDVI numerator  (B8−B4)↓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3739896"/>
            <a:ext cx="365760" cy="365760"/>
          </a:xfrm>
          <a:prstGeom prst="ellipse">
            <a:avLst/>
          </a:prstGeom>
          <a:solidFill>
            <a:srgbClr val="7832B4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721608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3666744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B4 increases NDVI denominator  (B8+B4)↑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4398264"/>
            <a:ext cx="365760" cy="365760"/>
          </a:xfrm>
          <a:prstGeom prst="ellipse">
            <a:avLst/>
          </a:prstGeom>
          <a:solidFill>
            <a:srgbClr val="7832B4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379976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4325112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effect: NDVI is artificially depressed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5056632"/>
            <a:ext cx="365760" cy="365760"/>
          </a:xfrm>
          <a:prstGeom prst="ellipse">
            <a:avLst/>
          </a:prstGeom>
          <a:solidFill>
            <a:srgbClr val="7832B4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503834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4983480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fall into lower health / higher risk class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1005840"/>
            <a:ext cx="54864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005840"/>
            <a:ext cx="5486400" cy="502920"/>
          </a:xfrm>
          <a:prstGeom prst="rect">
            <a:avLst/>
          </a:prstGeom>
          <a:solidFill>
            <a:srgbClr val="BE2828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10058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IMPACT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0" y="1645920"/>
            <a:ext cx="5120640" cy="1188720"/>
          </a:xfrm>
          <a:prstGeom prst="rect">
            <a:avLst/>
          </a:prstGeom>
          <a:solidFill>
            <a:srgbClr val="FFD8D8"/>
          </a:solidFill>
          <a:ln w="12700">
            <a:solidFill>
              <a:srgbClr val="BE28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164592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E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~7,654 hectares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400800" y="21945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 different risk classification based solely on mask choice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0" y="2971800"/>
            <a:ext cx="5120640" cy="640080"/>
          </a:xfrm>
          <a:prstGeom prst="rect">
            <a:avLst/>
          </a:prstGeom>
          <a:solidFill>
            <a:srgbClr val="FFE8C8"/>
          </a:solidFill>
          <a:ln w="12700">
            <a:solidFill>
              <a:srgbClr val="C0601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29718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0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6,073 cells shifted: High Health → Moderate Health  (B vs C comparison)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55080" y="37490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High-Stakes Applications: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0" y="4251960"/>
            <a:ext cx="5120640" cy="731520"/>
          </a:xfrm>
          <a:prstGeom prst="rect">
            <a:avLst/>
          </a:prstGeom>
          <a:solidFill>
            <a:srgbClr val="FFF4F0"/>
          </a:solidFill>
          <a:ln w="12700">
            <a:solidFill>
              <a:srgbClr val="BE28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428853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Index-based Agricultural Insurance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92240" y="461772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E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Financial misallocation risk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0" y="5120640"/>
            <a:ext cx="5120640" cy="731520"/>
          </a:xfrm>
          <a:prstGeom prst="rect">
            <a:avLst/>
          </a:prstGeom>
          <a:solidFill>
            <a:srgbClr val="FFF4F0"/>
          </a:solidFill>
          <a:ln w="12700">
            <a:solidFill>
              <a:srgbClr val="BE28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515721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Food Security Assessments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92240" y="548640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E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Erroneous emergency response risk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5029200"/>
            <a:ext cx="4114800" cy="4114800"/>
          </a:xfrm>
          <a:prstGeom prst="ellipse">
            <a:avLst/>
          </a:prstGeom>
          <a:solidFill>
            <a:srgbClr val="1A3A72">
              <a:alpha val="60000"/>
            </a:srgbClr>
          </a:solidFill>
          <a:ln w="12700">
            <a:solidFill>
              <a:srgbClr val="1A3A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-914400"/>
            <a:ext cx="3200400" cy="3200400"/>
          </a:xfrm>
          <a:prstGeom prst="ellipse">
            <a:avLst/>
          </a:prstGeom>
          <a:solidFill>
            <a:srgbClr val="1A3A72">
              <a:alpha val="60000"/>
            </a:srgbClr>
          </a:solidFill>
          <a:ln w="12700">
            <a:solidFill>
              <a:srgbClr val="1A3A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Takeaway &amp; Recommendation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10881360" cy="1188720"/>
          </a:xfrm>
          <a:prstGeom prst="rect">
            <a:avLst/>
          </a:prstGeom>
          <a:solidFill>
            <a:srgbClr val="1A3A72"/>
          </a:solidFill>
          <a:ln w="12700">
            <a:solidFill>
              <a:srgbClr val="488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9728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8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is NOT a neutral administrative step — it is a primary driver of classification outcomes.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3474720" cy="3063240"/>
          </a:xfrm>
          <a:prstGeom prst="rect">
            <a:avLst/>
          </a:prstGeom>
          <a:solidFill>
            <a:srgbClr val="162F60"/>
          </a:solidFill>
          <a:ln w="12700">
            <a:solidFill>
              <a:srgbClr val="2ECC7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468880"/>
            <a:ext cx="3474720" cy="5486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4688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468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Pipeline 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154680"/>
            <a:ext cx="32004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Strict SCL logic-based masking protocol as the standard for operational crop health monitoring.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2468880"/>
            <a:ext cx="3474720" cy="3063240"/>
          </a:xfrm>
          <a:prstGeom prst="rect">
            <a:avLst/>
          </a:prstGeom>
          <a:solidFill>
            <a:srgbClr val="162F60"/>
          </a:solidFill>
          <a:ln w="12700">
            <a:solidFill>
              <a:srgbClr val="3498D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2468880"/>
            <a:ext cx="3474720" cy="5486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24688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12080" y="2468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Across Workflows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6280" y="3154680"/>
            <a:ext cx="32004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all teams and monitoring programs use the same masking strategy to ensure comparability and reproducibility.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2468880"/>
            <a:ext cx="3474720" cy="3063240"/>
          </a:xfrm>
          <a:prstGeom prst="rect">
            <a:avLst/>
          </a:prstGeom>
          <a:solidFill>
            <a:srgbClr val="162F60"/>
          </a:solidFill>
          <a:ln w="12700">
            <a:solidFill>
              <a:srgbClr val="E67E2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38160" y="2468880"/>
            <a:ext cx="3474720" cy="5486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24688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961120" y="2468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Budgeting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75320" y="3154680"/>
            <a:ext cx="32004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your organisation's accepted flip-rate tolerance. For insurance or food security, target &lt; 5% (Stable tier).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5760720"/>
            <a:ext cx="10881360" cy="822960"/>
          </a:xfrm>
          <a:prstGeom prst="rect">
            <a:avLst/>
          </a:prstGeom>
          <a:solidFill>
            <a:srgbClr val="0D2247"/>
          </a:solidFill>
          <a:ln w="12700">
            <a:solidFill>
              <a:srgbClr val="2850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7607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MSI  ·  Google Earth Engine  ·  GeoPandas  ·  QGIS  ·  Sylhet District, Bangladesh  ·  200×200 m Processing Grid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736</Words>
  <Application>Microsoft Office PowerPoint</Application>
  <PresentationFormat>Widescreen</PresentationFormat>
  <Paragraphs>135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Cloud Masking on Agricultural Risk Classification</dc:title>
  <dc:subject>PptxGenJS Presentation</dc:subject>
  <dc:creator>PptxGenJS</dc:creator>
  <cp:lastModifiedBy>durjoy sarker</cp:lastModifiedBy>
  <cp:revision>2</cp:revision>
  <dcterms:created xsi:type="dcterms:W3CDTF">2026-06-06T05:54:31Z</dcterms:created>
  <dcterms:modified xsi:type="dcterms:W3CDTF">2026-06-06T06:09:06Z</dcterms:modified>
</cp:coreProperties>
</file>